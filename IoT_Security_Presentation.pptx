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89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baf7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1293" y="1573560"/>
            <a:ext cx="36014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SECURITY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000500" y="2602260"/>
            <a:ext cx="1143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44682" y="2983260"/>
            <a:ext cx="4654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Generatore di Password Sicure tramite Rumore Radio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313539" y="3859560"/>
            <a:ext cx="25169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• Firebase • Blockchain • AES-128</a:t>
            </a:r>
            <a:endParaRPr lang="en-US" sz="1050" dirty="0"/>
          </a:p>
        </p:txBody>
      </p:sp>
      <p:pic>
        <p:nvPicPr>
          <p:cNvPr id="7" name="Image 1" descr="/tmp/rasterized-gradient-5d1a85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216b5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Panoramica del Progetto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528911"/>
            <a:ext cx="8382000" cy="868561"/>
          </a:xfrm>
          <a:prstGeom prst="roundRect">
            <a:avLst>
              <a:gd name="adj" fmla="val 87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528911"/>
            <a:ext cx="0" cy="868561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09600" y="1719411"/>
            <a:ext cx="81221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Questo</a:t>
            </a: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è un </a:t>
            </a:r>
            <a:r>
              <a:rPr lang="en-US" sz="1200" dirty="0" err="1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</a:t>
            </a: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IoT che genera </a:t>
            </a:r>
            <a:r>
              <a:rPr lang="en-US" sz="12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sicure</a:t>
            </a: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sfruttando il rumore dei segnali radio FM come sorgente di entropia reale (TRNG).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2587972"/>
            <a:ext cx="2692450" cy="1100882"/>
          </a:xfrm>
          <a:prstGeom prst="roundRect">
            <a:avLst>
              <a:gd name="adj" fmla="val 69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2740372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FREQUENZA DINAMICA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3400" y="2976563"/>
            <a:ext cx="2435403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 frequenza ogni secondo per maggiore casualità e difesa contro attacchi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25850" y="2681288"/>
            <a:ext cx="2692450" cy="914251"/>
          </a:xfrm>
          <a:prstGeom prst="roundRect">
            <a:avLst>
              <a:gd name="adj" fmla="val 833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78250" y="2833688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CRITTOGRAFIA AES-128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78250" y="3069878"/>
            <a:ext cx="243540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cifrata prima del salvataggio su cloud Firebase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70699" y="2681288"/>
            <a:ext cx="2692450" cy="914251"/>
          </a:xfrm>
          <a:prstGeom prst="roundRect">
            <a:avLst>
              <a:gd name="adj" fmla="val 833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23099" y="2833688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AUDIT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23099" y="3069878"/>
            <a:ext cx="243540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immutabile firmato digitalmente per garantire tracciabilità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1000" y="3879354"/>
            <a:ext cx="8382000" cy="497086"/>
          </a:xfrm>
          <a:prstGeom prst="roundRect">
            <a:avLst>
              <a:gd name="adj" fmla="val 1532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2344" y="4041279"/>
            <a:ext cx="8219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r>
              <a:rPr lang="en-US" sz="9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Oltre 10.000 password testate senza duplicati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a49ec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73634"/>
            <a:ext cx="4076700" cy="3862983"/>
          </a:xfrm>
          <a:prstGeom prst="roundRect">
            <a:avLst>
              <a:gd name="adj" fmla="val 29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1000" y="992684"/>
            <a:ext cx="40767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09600" y="124033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04900" y="1325017"/>
            <a:ext cx="885629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600" y="1811834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1926134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2000" y="2150864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Modulo Wi-Fi e Bluetooth integrati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9600" y="2539454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2000" y="2653754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Modulo Radio FM I2C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2000" y="2878485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Sintonizzazione frequenze radio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9600" y="3267075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62000" y="3381375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Microfono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2000" y="3606105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Amplificazione segnale radio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9600" y="3994696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2000" y="4108996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Pulsante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2000" y="4333726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generazione password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86300" y="1337370"/>
            <a:ext cx="4076700" cy="3135362"/>
          </a:xfrm>
          <a:prstGeom prst="roundRect">
            <a:avLst>
              <a:gd name="adj" fmla="val 3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86300" y="1356420"/>
            <a:ext cx="4076700" cy="0"/>
          </a:xfrm>
          <a:prstGeom prst="line">
            <a:avLst/>
          </a:prstGeom>
          <a:noFill/>
          <a:ln w="381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914900" y="160407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10200" y="1688753"/>
            <a:ext cx="82065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914900" y="2175570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67300" y="2289870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 IDE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67300" y="2514600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Sviluppo firmware C++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14900" y="2903190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067300" y="3017490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Firebase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67300" y="3242221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cloud e autenticazione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914900" y="3630811"/>
            <a:ext cx="3619500" cy="613321"/>
          </a:xfrm>
          <a:prstGeom prst="roundRect">
            <a:avLst>
              <a:gd name="adj" fmla="val 93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67300" y="3745111"/>
            <a:ext cx="3380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67300" y="3969841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test e verifica duplicati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ddffe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Architettura del Sistema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755279" y="952500"/>
            <a:ext cx="895350" cy="801886"/>
          </a:xfrm>
          <a:prstGeom prst="roundRect">
            <a:avLst>
              <a:gd name="adj" fmla="val 9503"/>
            </a:avLst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940635" y="1104900"/>
            <a:ext cx="524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📻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940635" y="1289596"/>
            <a:ext cx="524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 FM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40635" y="1468636"/>
            <a:ext cx="524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Rumore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726829" y="122009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93529" y="952500"/>
            <a:ext cx="933450" cy="801886"/>
          </a:xfrm>
          <a:prstGeom prst="roundRect">
            <a:avLst>
              <a:gd name="adj" fmla="val 9503"/>
            </a:avLst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178504" y="1104900"/>
            <a:ext cx="5634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146503" y="1273796"/>
            <a:ext cx="6350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 err="1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Microfono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78504" y="1468636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Amplifica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003179" y="122009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69879" y="952500"/>
            <a:ext cx="736848" cy="801886"/>
          </a:xfrm>
          <a:prstGeom prst="roundRect">
            <a:avLst>
              <a:gd name="adj" fmla="val 10341"/>
            </a:avLst>
          </a:prstGeom>
          <a:solidFill>
            <a:srgbClr val="161B22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456820" y="1104900"/>
            <a:ext cx="3629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456820" y="1289596"/>
            <a:ext cx="3629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456820" y="1468636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Elabora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82927" y="122009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49627" y="952500"/>
            <a:ext cx="844897" cy="801886"/>
          </a:xfrm>
          <a:prstGeom prst="roundRect">
            <a:avLst>
              <a:gd name="adj" fmla="val 9503"/>
            </a:avLst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35488" y="1104900"/>
            <a:ext cx="473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35488" y="1289596"/>
            <a:ext cx="473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AES-128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35488" y="1468636"/>
            <a:ext cx="473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Cifra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270724" y="122009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37424" y="952500"/>
            <a:ext cx="851148" cy="801886"/>
          </a:xfrm>
          <a:prstGeom prst="roundRect">
            <a:avLst>
              <a:gd name="adj" fmla="val 9503"/>
            </a:avLst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23223" y="1104900"/>
            <a:ext cx="479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723223" y="1289596"/>
            <a:ext cx="4795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723223" y="1468636"/>
            <a:ext cx="479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81000" y="2844998"/>
            <a:ext cx="26924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33400" y="2997398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Sviluppo Hardware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33400" y="3252639"/>
            <a:ext cx="24354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Antenna realizzata con cavo jumper non schermato. Il segnale viene amplificato dal microfono per aumentare variabilità e rumore.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25850" y="2844998"/>
            <a:ext cx="26924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378250" y="2997398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Sviluppo Software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378250" y="3183308"/>
            <a:ext cx="24354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 in C++ che converte il </a:t>
            </a:r>
            <a:r>
              <a:rPr lang="en-US" sz="900" dirty="0" err="1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segnale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analogico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</a:t>
            </a:r>
            <a:r>
              <a:rPr lang="en-US" sz="900" dirty="0" err="1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stringa ASCII di 16 caratteri. Algoritmo ibrido con salting per casi di silenzio radio.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70699" y="2844998"/>
            <a:ext cx="26924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23099" y="2997398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Chaining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223099" y="3252639"/>
            <a:ext cx="24354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blocco include l'hash SHA-256 del record precedente, creando una catena immutabile per l'audit trail.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0e6b6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4856" y="266700"/>
            <a:ext cx="6457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</a:t>
            </a:r>
            <a:r>
              <a:rPr lang="en-US" sz="2700" b="1" dirty="0" err="1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dello</a:t>
            </a: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700" b="1" dirty="0" err="1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strumento</a:t>
            </a: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700" b="1" dirty="0" err="1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problematiche</a:t>
            </a:r>
            <a:endParaRPr lang="en-US" sz="2700" dirty="0"/>
          </a:p>
        </p:txBody>
      </p:sp>
      <p:pic>
        <p:nvPicPr>
          <p:cNvPr id="4" name="Image 1" descr="/tmp/rasterized-gradient-774238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4400"/>
            <a:ext cx="8382000" cy="6380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0550" y="104775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DI APPLICAZIONE</a:t>
            </a:r>
            <a:endParaRPr lang="en-US" sz="825" dirty="0"/>
          </a:p>
        </p:txBody>
      </p:sp>
      <p:sp>
        <p:nvSpPr>
          <p:cNvPr id="6" name="Text 2"/>
          <p:cNvSpPr/>
          <p:nvPr/>
        </p:nvSpPr>
        <p:spPr>
          <a:xfrm>
            <a:off x="590550" y="123244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Generazione di password ad alta entropia per sistemi critici tramite sorgente TRNG radio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81000" y="2438400"/>
            <a:ext cx="2705100" cy="1666577"/>
          </a:xfrm>
          <a:prstGeom prst="roundRect">
            <a:avLst>
              <a:gd name="adj" fmla="val 45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381000" y="2452688"/>
            <a:ext cx="2705100" cy="0"/>
          </a:xfrm>
          <a:prstGeom prst="line">
            <a:avLst/>
          </a:prstGeom>
          <a:noFill/>
          <a:ln w="28575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514350" y="2600325"/>
            <a:ext cx="248716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Errori (Non intenzionali)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514350" y="2844105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9600" y="2939355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Guasto Hardware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9600" y="3127921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Modulo radio disconnesso o antenna staccata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514350" y="3445966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09600" y="354121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Assenza di Rete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09600" y="3729782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Impossibile raggiungere Firebase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3219450" y="2438400"/>
            <a:ext cx="2705100" cy="1666577"/>
          </a:xfrm>
          <a:prstGeom prst="roundRect">
            <a:avLst>
              <a:gd name="adj" fmla="val 45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3219450" y="2452688"/>
            <a:ext cx="2705100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3352800" y="2600325"/>
            <a:ext cx="248716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Vulnerabilità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3352800" y="2844105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448050" y="2939355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Chiavi in Flash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48050" y="3127921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Chiavi crittografiche salvate in chiaro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3352800" y="3445966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48050" y="354121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Dipendenza Radio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448050" y="3729782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Necessita spettro radio "sporco"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6057900" y="2438400"/>
            <a:ext cx="2705100" cy="1666577"/>
          </a:xfrm>
          <a:prstGeom prst="roundRect">
            <a:avLst>
              <a:gd name="adj" fmla="val 45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6057900" y="2452688"/>
            <a:ext cx="2705100" cy="0"/>
          </a:xfrm>
          <a:prstGeom prst="line">
            <a:avLst/>
          </a:prstGeom>
          <a:noFill/>
          <a:ln w="28575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6191250" y="2600325"/>
            <a:ext cx="248716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Attacchi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6191250" y="2844105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286500" y="2939355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Jamming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86500" y="3127921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Saturazione banda FM per ridurre entropia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6191250" y="3445966"/>
            <a:ext cx="2438400" cy="525661"/>
          </a:xfrm>
          <a:prstGeom prst="roundRect">
            <a:avLst>
              <a:gd name="adj" fmla="val 1087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286500" y="354121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Dump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86500" y="3729782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Estrazione fisica del firmware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ed3bf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63442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 Generazione Manuale Password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259681"/>
            <a:ext cx="2667000" cy="638026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14350" y="1393031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ATTORE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514350" y="1577727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Utente / Operatore di sicurezza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1000" y="2012007"/>
            <a:ext cx="2667000" cy="638026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" y="2145357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2330053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🔘 Pressione pulsante fisico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1000" y="2764334"/>
            <a:ext cx="2667000" cy="797868"/>
          </a:xfrm>
          <a:prstGeom prst="roundRect">
            <a:avLst>
              <a:gd name="adj" fmla="val 955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2897684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PRECONDIZIONI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14350" y="3082379"/>
            <a:ext cx="244830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acceso, connesso Wi-Fi, modulo radio inizializzato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81000" y="3676501"/>
            <a:ext cx="2667000" cy="797868"/>
          </a:xfrm>
          <a:prstGeom prst="roundRect">
            <a:avLst>
              <a:gd name="adj" fmla="val 955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" y="3809851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CONDIZIONE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14350" y="3994547"/>
            <a:ext cx="244830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visualizzata + backup cifrato immutabile su Firebase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238500" y="1678335"/>
            <a:ext cx="5524500" cy="2377380"/>
          </a:xfrm>
          <a:prstGeom prst="roundRect">
            <a:avLst>
              <a:gd name="adj" fmla="val 320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09950" y="1849785"/>
            <a:ext cx="52852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FLUSSO DI EVENTI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3409950" y="21316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471267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52850" y="2131665"/>
            <a:ext cx="18886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rileva pressione pulsante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3409950" y="24364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71267" y="24174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752850" y="2436465"/>
            <a:ext cx="28926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Modulo radio scansiona frequenze e cattura rumore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3409950" y="27412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471267" y="27222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752850" y="2741265"/>
            <a:ext cx="35068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converte segnale in stringa + perturbazione software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3409950" y="30460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71267" y="30270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752850" y="3046065"/>
            <a:ext cx="20918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stampata su Serial Monitor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3409950" y="33508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471267" y="33318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752850" y="3350865"/>
            <a:ext cx="2078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cifra password con AES-128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3409950" y="36556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71267" y="3636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752850" y="3655665"/>
            <a:ext cx="33066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Scarica ultimo hash, calcola nuovo blocco, invia a Firebase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6f431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52949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 Audit Trail &amp; Self-Healing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48029" y="1482328"/>
            <a:ext cx="4114800" cy="3391599"/>
          </a:xfrm>
          <a:prstGeom prst="roundRect">
            <a:avLst>
              <a:gd name="adj" fmla="val 35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67079" y="1501378"/>
            <a:ext cx="4095750" cy="0"/>
          </a:xfrm>
          <a:prstGeom prst="line">
            <a:avLst/>
          </a:prstGeom>
          <a:noFill/>
          <a:ln w="381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52450" y="1716584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Audit Trail e Verifica Integrità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2450" y="2013645"/>
            <a:ext cx="3752850" cy="502741"/>
          </a:xfrm>
          <a:prstGeom prst="roundRect">
            <a:avLst>
              <a:gd name="adj" fmla="val 113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7700" y="2108895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ATTORE: Revisore / Admin DB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47700" y="2274540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TRIGGER: Controllo sicurezza o sospetto incidente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2630686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Apre Realtime Database su Firebase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2450" y="2847826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Seleziona cartella "chain"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2450" y="3064966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Esamina blocchi consecutivi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2450" y="3282107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Confronta hash tra blocchi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2450" y="3556397"/>
            <a:ext cx="1838325" cy="499021"/>
          </a:xfrm>
          <a:prstGeom prst="roundRect">
            <a:avLst>
              <a:gd name="adj" fmla="val 11452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7700" y="3651647"/>
            <a:ext cx="16807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Successo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47700" y="3826818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coincidono → Catena integra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466975" y="3556397"/>
            <a:ext cx="1838325" cy="729853"/>
          </a:xfrm>
          <a:prstGeom prst="roundRect">
            <a:avLst>
              <a:gd name="adj" fmla="val 11452"/>
            </a:avLst>
          </a:prstGeom>
          <a:solidFill>
            <a:srgbClr val="F851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562225" y="3651647"/>
            <a:ext cx="16807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Fallimento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562225" y="3826818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diversi → Tampering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rilevato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è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stata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eseguita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manomissione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dirty="0" err="1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sulla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blockchain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67250" y="1482328"/>
            <a:ext cx="4095750" cy="2769394"/>
          </a:xfrm>
          <a:prstGeom prst="roundRect">
            <a:avLst>
              <a:gd name="adj" fmla="val 343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67250" y="1501378"/>
            <a:ext cx="40957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838700" y="1691878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Self-Healing all'Avvio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38700" y="1988939"/>
            <a:ext cx="3752850" cy="502741"/>
          </a:xfrm>
          <a:prstGeom prst="roundRect">
            <a:avLst>
              <a:gd name="adj" fmla="val 113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33950" y="2084189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ATTORE: ESP32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933950" y="2249835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TRIGGER: Accensione dispositivo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38700" y="2605980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Avvia connessione Wi-Fi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38700" y="2823121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Autentica su Firebase (API Key)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38700" y="3040261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Richiesta READ ultimo blocco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38700" y="3257401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Memorizza hash in RAM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38700" y="3531691"/>
            <a:ext cx="3752850" cy="548580"/>
          </a:xfrm>
          <a:prstGeom prst="roundRect">
            <a:avLst>
              <a:gd name="adj" fmla="val 1041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852988" y="3531691"/>
            <a:ext cx="0" cy="54858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4981575" y="3645991"/>
            <a:ext cx="3565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Risultato:</a:t>
            </a: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Dispositivo pronto a generare nuovo blocco collegato matematicamente al precedente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48246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6897" y="266700"/>
            <a:ext cx="3955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Injection (Jamming)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335584"/>
            <a:ext cx="4114800" cy="931515"/>
          </a:xfrm>
          <a:prstGeom prst="roundRect">
            <a:avLst>
              <a:gd name="adj" fmla="val 8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335584"/>
            <a:ext cx="0" cy="931515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71500" y="1487984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Scenario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743224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L'attaccante disturba il segnale radio creando un </a:t>
            </a: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segnale muto</a:t>
            </a: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L'entropia crolla e vengono generate sempre le stesse password.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648200" y="1335584"/>
            <a:ext cx="4114800" cy="931515"/>
          </a:xfrm>
          <a:prstGeom prst="roundRect">
            <a:avLst>
              <a:gd name="adj" fmla="val 8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67250" y="1335584"/>
            <a:ext cx="0" cy="931515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838700" y="1487984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Obiettivo Attaccante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38700" y="1743224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 generare al sistema la </a:t>
            </a:r>
            <a:r>
              <a:rPr lang="en-US" sz="975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stessa password</a:t>
            </a: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ripetutamente per rubarla e accedere al sistema protetto.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2419499"/>
            <a:ext cx="8382000" cy="1264741"/>
          </a:xfrm>
          <a:prstGeom prst="roundRect">
            <a:avLst>
              <a:gd name="adj" fmla="val 7531"/>
            </a:avLst>
          </a:prstGeom>
          <a:solidFill>
            <a:srgbClr val="0D1D14"/>
          </a:solidFill>
          <a:ln w="19050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0550" y="26290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90600" y="2690068"/>
            <a:ext cx="298220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Contromisura: Algoritmo Ibrido (Salting)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0550" y="3048149"/>
            <a:ext cx="8122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Implementazione di un algoritmo pseudorandomico che modifica caratteri scelti casualmente con altri caratteri alfanumerici random. In questo modo, anche la password generata da un </a:t>
            </a: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segnale piatto risulta imprevedibile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696468" y="3836640"/>
            <a:ext cx="1665536" cy="599926"/>
          </a:xfrm>
          <a:prstGeom prst="roundRect">
            <a:avLst>
              <a:gd name="adj" fmla="val 952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874123" y="3950940"/>
            <a:ext cx="1310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Segnale Pulito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874123" y="4135636"/>
            <a:ext cx="13102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851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AAAAAAAAAAAAAAAA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76304" y="40031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81104" y="3836640"/>
            <a:ext cx="1666280" cy="599926"/>
          </a:xfrm>
          <a:prstGeom prst="roundRect">
            <a:avLst>
              <a:gd name="adj" fmla="val 952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58751" y="3950940"/>
            <a:ext cx="13109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Salting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958751" y="4135636"/>
            <a:ext cx="13109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</a:t>
            </a:r>
            <a:r>
              <a:rPr lang="en-US" sz="1050" dirty="0">
                <a:solidFill>
                  <a:srgbClr val="F0883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</a:t>
            </a:r>
            <a:r>
              <a:rPr lang="en-US" sz="1050" dirty="0">
                <a:solidFill>
                  <a:srgbClr val="00D4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</a:t>
            </a:r>
            <a:r>
              <a:rPr lang="en-US" sz="1050" dirty="0">
                <a:solidFill>
                  <a:srgbClr val="F0883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</a:t>
            </a:r>
            <a:r>
              <a:rPr lang="en-US" sz="1050" dirty="0">
                <a:solidFill>
                  <a:srgbClr val="00D4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AAA</a:t>
            </a:r>
            <a:r>
              <a:rPr lang="en-US" sz="1050" dirty="0">
                <a:solidFill>
                  <a:srgbClr val="F0883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</a:t>
            </a:r>
            <a:r>
              <a:rPr lang="en-US" sz="1050" dirty="0">
                <a:solidFill>
                  <a:srgbClr val="00D4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AAAAA</a:t>
            </a:r>
            <a:r>
              <a:rPr lang="en-US" sz="1050" dirty="0">
                <a:solidFill>
                  <a:srgbClr val="F0883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</a:t>
            </a:r>
            <a:r>
              <a:rPr lang="en-US" sz="1050" dirty="0">
                <a:solidFill>
                  <a:srgbClr val="00D4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acbd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6897" y="266700"/>
            <a:ext cx="33747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Prediction Attack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077813"/>
            <a:ext cx="4114800" cy="1117253"/>
          </a:xfrm>
          <a:prstGeom prst="roundRect">
            <a:avLst>
              <a:gd name="adj" fmla="val 682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077813"/>
            <a:ext cx="0" cy="1117253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71500" y="123021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Scenario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485454"/>
            <a:ext cx="384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L'attaccante conosce il salting software e sfrutta il jamming. Se riesce a </a:t>
            </a: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indovinare il seed</a:t>
            </a: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generatore random ESP32, può prevedere le password future.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648200" y="1170682"/>
            <a:ext cx="4114800" cy="931515"/>
          </a:xfrm>
          <a:prstGeom prst="roundRect">
            <a:avLst>
              <a:gd name="adj" fmla="val 8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67250" y="1170682"/>
            <a:ext cx="0" cy="931515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838700" y="132308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Obiettivo Attaccante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38700" y="1578322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Forzare il software a usare pesantemente la funzione random() invece del rumore radio, bypassando la complessità.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2347466"/>
            <a:ext cx="8382000" cy="929580"/>
          </a:xfrm>
          <a:prstGeom prst="roundRect">
            <a:avLst>
              <a:gd name="adj" fmla="val 819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3400" y="2499866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CATENA DI ATTACCO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32334" y="2774156"/>
            <a:ext cx="730448" cy="350490"/>
          </a:xfrm>
          <a:prstGeom prst="roundRect">
            <a:avLst>
              <a:gd name="adj" fmla="val 16306"/>
            </a:avLst>
          </a:prstGeom>
          <a:solidFill>
            <a:srgbClr val="F851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661047" y="2869406"/>
            <a:ext cx="4730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Jamming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7583" y="2774156"/>
            <a:ext cx="997595" cy="350490"/>
          </a:xfrm>
          <a:prstGeom prst="roundRect">
            <a:avLst>
              <a:gd name="adj" fmla="val 1630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93624" y="2869406"/>
            <a:ext cx="745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Segnale piatto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69978" y="2774156"/>
            <a:ext cx="990898" cy="350490"/>
          </a:xfrm>
          <a:prstGeom prst="roundRect">
            <a:avLst>
              <a:gd name="adj" fmla="val 1630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996086" y="2869406"/>
            <a:ext cx="738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random()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65675" y="2774156"/>
            <a:ext cx="1118295" cy="350490"/>
          </a:xfrm>
          <a:prstGeom prst="roundRect">
            <a:avLst>
              <a:gd name="adj" fmla="val 1630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90509" y="2869406"/>
            <a:ext cx="8686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prevedibile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88770" y="2774156"/>
            <a:ext cx="1022896" cy="350490"/>
          </a:xfrm>
          <a:prstGeom prst="roundRect">
            <a:avLst>
              <a:gd name="adj" fmla="val 16306"/>
            </a:avLst>
          </a:prstGeom>
          <a:solidFill>
            <a:srgbClr val="F851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714558" y="2869406"/>
            <a:ext cx="7713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note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1000" y="3429446"/>
            <a:ext cx="8382000" cy="1264741"/>
          </a:xfrm>
          <a:prstGeom prst="roundRect">
            <a:avLst>
              <a:gd name="adj" fmla="val 7531"/>
            </a:avLst>
          </a:prstGeom>
          <a:solidFill>
            <a:srgbClr val="0D1D14"/>
          </a:solidFill>
          <a:ln w="19050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90550" y="36389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990600" y="3700016"/>
            <a:ext cx="32329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Contromisura: Aumento Caratteri Modificati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0550" y="4058096"/>
            <a:ext cx="8122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Aumentare significativamente il numero di caratteri modificati dalla funzione random. Passando da 3 a </a:t>
            </a: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8+ caratteri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 16, l'attacco diventa computazionalmente impraticabile anche conoscendo il seed.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d8b6d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50" y="302568"/>
            <a:ext cx="42317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Dump (Furto Fisico)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988368"/>
            <a:ext cx="4114800" cy="1117253"/>
          </a:xfrm>
          <a:prstGeom prst="roundRect">
            <a:avLst>
              <a:gd name="adj" fmla="val 682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988368"/>
            <a:ext cx="0" cy="1117253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71500" y="1140768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Scenario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396008"/>
            <a:ext cx="384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L'attaccante </a:t>
            </a: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ruba fisicamente l'ESP32</a:t>
            </a: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scarica il contenuto della memoria Flash. Con la chiave AES recuperata, decifra tutto lo storico password su Firebase.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648200" y="1035993"/>
            <a:ext cx="4114800" cy="1022003"/>
          </a:xfrm>
          <a:prstGeom prst="roundRect">
            <a:avLst>
              <a:gd name="adj" fmla="val 745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67250" y="1035993"/>
            <a:ext cx="0" cy="1022003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838700" y="118839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Obiettivo Attaccante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38700" y="1443633"/>
            <a:ext cx="38473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Recuperare dal firmware in chiaro: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2258020"/>
            <a:ext cx="8382000" cy="1108621"/>
          </a:xfrm>
          <a:prstGeom prst="roundRect">
            <a:avLst>
              <a:gd name="adj" fmla="val 68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913930" y="2410420"/>
            <a:ext cx="921097" cy="803821"/>
          </a:xfrm>
          <a:prstGeom prst="roundRect">
            <a:avLst>
              <a:gd name="adj" fmla="val 948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040736" y="2543770"/>
            <a:ext cx="667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040736" y="2920901"/>
            <a:ext cx="667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Furto ESP32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54127" y="2410420"/>
            <a:ext cx="882848" cy="803821"/>
          </a:xfrm>
          <a:prstGeom prst="roundRect">
            <a:avLst>
              <a:gd name="adj" fmla="val 948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81315" y="2543770"/>
            <a:ext cx="6284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81315" y="2920901"/>
            <a:ext cx="6284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 Dump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56075" y="2410420"/>
            <a:ext cx="1067246" cy="803821"/>
          </a:xfrm>
          <a:prstGeom prst="roundRect">
            <a:avLst>
              <a:gd name="adj" fmla="val 948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681420" y="2543770"/>
            <a:ext cx="8165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81420" y="2920901"/>
            <a:ext cx="816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Chiave Esposta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42422" y="2410420"/>
            <a:ext cx="1187648" cy="803821"/>
          </a:xfrm>
          <a:prstGeom prst="roundRect">
            <a:avLst>
              <a:gd name="adj" fmla="val 9480"/>
            </a:avLst>
          </a:prstGeom>
          <a:solidFill>
            <a:srgbClr val="F851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66562" y="2543770"/>
            <a:ext cx="9393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☠️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66562" y="2920901"/>
            <a:ext cx="9393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Storico Decifrato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1000" y="3519041"/>
            <a:ext cx="8382000" cy="1264741"/>
          </a:xfrm>
          <a:prstGeom prst="roundRect">
            <a:avLst>
              <a:gd name="adj" fmla="val 7531"/>
            </a:avLst>
          </a:prstGeom>
          <a:solidFill>
            <a:srgbClr val="0D1D14"/>
          </a:solidFill>
          <a:ln w="19050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90550" y="372859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990600" y="3789611"/>
            <a:ext cx="346797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Contromisura: Flash Encryption + Secure Boot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0550" y="4147691"/>
            <a:ext cx="8122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Abilitare la </a:t>
            </a: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 Encryption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il </a:t>
            </a: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Boot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 ESP32. Questo rende </a:t>
            </a: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inutile il dump della memoria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anche se il dispositivo viene fisicamente compromesso: i dati sono cifrati con chiavi hardware-bound.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acbdaf4.png">
            <a:extLst>
              <a:ext uri="{FF2B5EF4-FFF2-40B4-BE49-F238E27FC236}">
                <a16:creationId xmlns:a16="http://schemas.microsoft.com/office/drawing/2014/main" id="{96D6B18D-482A-DD92-832A-E65D145A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3750007-7FBD-CB8A-5A64-5EAFE57ACADC}"/>
              </a:ext>
            </a:extLst>
          </p:cNvPr>
          <p:cNvSpPr/>
          <p:nvPr/>
        </p:nvSpPr>
        <p:spPr>
          <a:xfrm>
            <a:off x="841548" y="259170"/>
            <a:ext cx="5213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Abuse case: </a:t>
            </a:r>
            <a:r>
              <a:rPr lang="en-US" sz="2400" b="1" dirty="0" err="1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Saturazione</a:t>
            </a: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database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967900E-6195-BCC3-7373-7FA8A473836A}"/>
              </a:ext>
            </a:extLst>
          </p:cNvPr>
          <p:cNvSpPr/>
          <p:nvPr/>
        </p:nvSpPr>
        <p:spPr>
          <a:xfrm>
            <a:off x="380999" y="1812036"/>
            <a:ext cx="4114800" cy="1117253"/>
          </a:xfrm>
          <a:prstGeom prst="roundRect">
            <a:avLst>
              <a:gd name="adj" fmla="val 682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497EDF-6BE8-9119-D558-F0B33A6BE2B2}"/>
              </a:ext>
            </a:extLst>
          </p:cNvPr>
          <p:cNvSpPr/>
          <p:nvPr/>
        </p:nvSpPr>
        <p:spPr>
          <a:xfrm>
            <a:off x="430823" y="1790581"/>
            <a:ext cx="0" cy="1117253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5F3F0F-718C-C3EB-9B5C-6D4F0F6DB851}"/>
              </a:ext>
            </a:extLst>
          </p:cNvPr>
          <p:cNvSpPr/>
          <p:nvPr/>
        </p:nvSpPr>
        <p:spPr>
          <a:xfrm>
            <a:off x="533175" y="1877480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Scenario</a:t>
            </a:r>
            <a:endParaRPr lang="en-US" sz="1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0C0643F-DB4E-9034-E458-52C191DC6715}"/>
              </a:ext>
            </a:extLst>
          </p:cNvPr>
          <p:cNvSpPr/>
          <p:nvPr/>
        </p:nvSpPr>
        <p:spPr>
          <a:xfrm>
            <a:off x="552449" y="2092055"/>
            <a:ext cx="384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it-IT" sz="1000" dirty="0">
                <a:solidFill>
                  <a:schemeClr val="bg1"/>
                </a:solidFill>
              </a:rPr>
              <a:t>L'utente ha legittimo accesso fisico al dispositivo. Invece di generare una password quando serve, preme il pulsante ripetutamente e ad altissima frequenza. 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10EFDF-E29F-D382-77AD-3576036FA88A}"/>
              </a:ext>
            </a:extLst>
          </p:cNvPr>
          <p:cNvSpPr/>
          <p:nvPr/>
        </p:nvSpPr>
        <p:spPr>
          <a:xfrm>
            <a:off x="4667250" y="1824680"/>
            <a:ext cx="4114800" cy="1117252"/>
          </a:xfrm>
          <a:prstGeom prst="roundRect">
            <a:avLst>
              <a:gd name="adj" fmla="val 8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D71BBB8-B169-A37C-4CDE-DE31BE2A6642}"/>
              </a:ext>
            </a:extLst>
          </p:cNvPr>
          <p:cNvSpPr/>
          <p:nvPr/>
        </p:nvSpPr>
        <p:spPr>
          <a:xfrm flipH="1">
            <a:off x="4665783" y="1870847"/>
            <a:ext cx="1" cy="1067509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8BC6F5-632F-4258-74F9-2A5E3EF9D77B}"/>
              </a:ext>
            </a:extLst>
          </p:cNvPr>
          <p:cNvSpPr/>
          <p:nvPr/>
        </p:nvSpPr>
        <p:spPr>
          <a:xfrm>
            <a:off x="4750227" y="1883444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Obiettivo Attaccante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9146F8-3AE8-AADD-44F9-EA5575064F19}"/>
              </a:ext>
            </a:extLst>
          </p:cNvPr>
          <p:cNvSpPr/>
          <p:nvPr/>
        </p:nvSpPr>
        <p:spPr>
          <a:xfrm>
            <a:off x="4750227" y="2105213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it-IT" sz="1000" dirty="0">
                <a:solidFill>
                  <a:schemeClr val="bg1"/>
                </a:solidFill>
              </a:rPr>
              <a:t>L’obiettivo è quello di saturare il database </a:t>
            </a:r>
            <a:r>
              <a:rPr lang="it-IT" sz="1000" dirty="0" err="1">
                <a:solidFill>
                  <a:schemeClr val="bg1"/>
                </a:solidFill>
              </a:rPr>
              <a:t>Firebase</a:t>
            </a:r>
            <a:r>
              <a:rPr lang="it-IT" sz="1000" dirty="0">
                <a:solidFill>
                  <a:schemeClr val="bg1"/>
                </a:solidFill>
              </a:rPr>
              <a:t> e/o consumare tutta la banda del Wi-Fi rendendo il servizio inutilizzabile. 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F55BC58-BD85-D4B0-5B19-A20F28A51D58}"/>
              </a:ext>
            </a:extLst>
          </p:cNvPr>
          <p:cNvSpPr/>
          <p:nvPr/>
        </p:nvSpPr>
        <p:spPr>
          <a:xfrm>
            <a:off x="400050" y="3169618"/>
            <a:ext cx="7199431" cy="1041637"/>
          </a:xfrm>
          <a:prstGeom prst="roundRect">
            <a:avLst>
              <a:gd name="adj" fmla="val 7531"/>
            </a:avLst>
          </a:prstGeom>
          <a:solidFill>
            <a:srgbClr val="0D1D14"/>
          </a:solidFill>
          <a:ln w="19050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8B4813-DDAD-BAF8-D6CC-846AA4ABBE89}"/>
              </a:ext>
            </a:extLst>
          </p:cNvPr>
          <p:cNvSpPr/>
          <p:nvPr/>
        </p:nvSpPr>
        <p:spPr>
          <a:xfrm>
            <a:off x="689148" y="335324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2263198-133E-6411-5BB5-597CF96C87BC}"/>
              </a:ext>
            </a:extLst>
          </p:cNvPr>
          <p:cNvSpPr/>
          <p:nvPr/>
        </p:nvSpPr>
        <p:spPr>
          <a:xfrm>
            <a:off x="1060938" y="3414266"/>
            <a:ext cx="32329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Contromisura: Aumento Caratteri Modificati</a:t>
            </a:r>
            <a:endParaRPr lang="en-US" sz="1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58CE1C8-2C2A-C25F-A803-E0C1114E6EEA}"/>
              </a:ext>
            </a:extLst>
          </p:cNvPr>
          <p:cNvSpPr/>
          <p:nvPr/>
        </p:nvSpPr>
        <p:spPr>
          <a:xfrm>
            <a:off x="689148" y="3721380"/>
            <a:ext cx="8122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it-IT" sz="1050" dirty="0">
                <a:solidFill>
                  <a:schemeClr val="bg1"/>
                </a:solidFill>
              </a:rPr>
              <a:t>Implementare un "Rate </a:t>
            </a:r>
            <a:r>
              <a:rPr lang="it-IT" sz="1050" dirty="0" err="1">
                <a:solidFill>
                  <a:schemeClr val="bg1"/>
                </a:solidFill>
              </a:rPr>
              <a:t>Limiting</a:t>
            </a:r>
            <a:r>
              <a:rPr lang="it-IT" sz="1050" dirty="0">
                <a:solidFill>
                  <a:schemeClr val="bg1"/>
                </a:solidFill>
              </a:rPr>
              <a:t>", cioè la password può essere generata alla pressione del pulsante solo ogni 10 secondi</a:t>
            </a:r>
            <a:r>
              <a:rPr lang="it-IT" sz="1050" dirty="0"/>
              <a:t>.</a:t>
            </a:r>
            <a:endParaRPr lang="en-US" sz="105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840EF1F-1735-9D7A-30EC-E1A7689D1957}"/>
              </a:ext>
            </a:extLst>
          </p:cNvPr>
          <p:cNvSpPr/>
          <p:nvPr/>
        </p:nvSpPr>
        <p:spPr>
          <a:xfrm>
            <a:off x="515763" y="1114705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ATTORE</a:t>
            </a:r>
            <a:endParaRPr lang="en-US" sz="825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F90F54B8-38C9-92D6-9728-83715969C793}"/>
              </a:ext>
            </a:extLst>
          </p:cNvPr>
          <p:cNvSpPr/>
          <p:nvPr/>
        </p:nvSpPr>
        <p:spPr>
          <a:xfrm>
            <a:off x="430823" y="1282756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</a:t>
            </a:r>
            <a:r>
              <a:rPr lang="en-US" sz="1050" dirty="0" err="1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Utente</a:t>
            </a: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8120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843BB-395B-6B0C-DDD9-4F72F931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acbdaf4.png">
            <a:extLst>
              <a:ext uri="{FF2B5EF4-FFF2-40B4-BE49-F238E27FC236}">
                <a16:creationId xmlns:a16="http://schemas.microsoft.com/office/drawing/2014/main" id="{17AB2275-FE93-DF05-7D08-5C7343B1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9AAB376-AC80-2710-DCD4-83C6887F5D39}"/>
              </a:ext>
            </a:extLst>
          </p:cNvPr>
          <p:cNvSpPr/>
          <p:nvPr/>
        </p:nvSpPr>
        <p:spPr>
          <a:xfrm>
            <a:off x="898666" y="370147"/>
            <a:ext cx="5213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Abuse case: </a:t>
            </a:r>
            <a:r>
              <a:rPr lang="en-US" sz="2400" b="1" dirty="0" err="1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Furto</a:t>
            </a: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password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DA2927-D6ED-207F-53F1-2434003E7166}"/>
              </a:ext>
            </a:extLst>
          </p:cNvPr>
          <p:cNvSpPr/>
          <p:nvPr/>
        </p:nvSpPr>
        <p:spPr>
          <a:xfrm>
            <a:off x="380999" y="2145323"/>
            <a:ext cx="4114800" cy="1117253"/>
          </a:xfrm>
          <a:prstGeom prst="roundRect">
            <a:avLst>
              <a:gd name="adj" fmla="val 682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F3C87CD-6787-A444-900F-1E110F2047C3}"/>
              </a:ext>
            </a:extLst>
          </p:cNvPr>
          <p:cNvSpPr/>
          <p:nvPr/>
        </p:nvSpPr>
        <p:spPr>
          <a:xfrm>
            <a:off x="400050" y="2145322"/>
            <a:ext cx="0" cy="1085851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856227-9E7B-72CF-7C18-DBEB9FE8BC45}"/>
              </a:ext>
            </a:extLst>
          </p:cNvPr>
          <p:cNvSpPr/>
          <p:nvPr/>
        </p:nvSpPr>
        <p:spPr>
          <a:xfrm>
            <a:off x="514730" y="2269058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Scenario</a:t>
            </a:r>
            <a:endParaRPr lang="en-US" sz="1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728F188-4EEA-691A-F40A-F616E48FCCEC}"/>
              </a:ext>
            </a:extLst>
          </p:cNvPr>
          <p:cNvSpPr/>
          <p:nvPr/>
        </p:nvSpPr>
        <p:spPr>
          <a:xfrm>
            <a:off x="514350" y="2436849"/>
            <a:ext cx="384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it-IT" sz="1000" dirty="0">
                <a:solidFill>
                  <a:schemeClr val="bg1"/>
                </a:solidFill>
              </a:rPr>
              <a:t>L'operatore deve generare una password per un dipendente dell'azienda. Usa il dispositivo, vede la password sul Monitor Seriale, se la appunta segretamente, e poi consegna la password al dipendente.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992C0B-DB57-0261-1412-79E328ECF55D}"/>
              </a:ext>
            </a:extLst>
          </p:cNvPr>
          <p:cNvSpPr/>
          <p:nvPr/>
        </p:nvSpPr>
        <p:spPr>
          <a:xfrm>
            <a:off x="4629150" y="2131139"/>
            <a:ext cx="4114800" cy="1117252"/>
          </a:xfrm>
          <a:prstGeom prst="roundRect">
            <a:avLst>
              <a:gd name="adj" fmla="val 8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6346922-2EAF-688B-3F86-22C31539C394}"/>
              </a:ext>
            </a:extLst>
          </p:cNvPr>
          <p:cNvSpPr/>
          <p:nvPr/>
        </p:nvSpPr>
        <p:spPr>
          <a:xfrm flipH="1">
            <a:off x="4667248" y="2170193"/>
            <a:ext cx="1" cy="1067509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09349BD-C649-EE42-5743-6BBB61097809}"/>
              </a:ext>
            </a:extLst>
          </p:cNvPr>
          <p:cNvSpPr/>
          <p:nvPr/>
        </p:nvSpPr>
        <p:spPr>
          <a:xfrm>
            <a:off x="4762881" y="2244680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Obiettivo Attaccante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2C2CEF5-06C4-4982-20E7-E45FF2E18BC8}"/>
              </a:ext>
            </a:extLst>
          </p:cNvPr>
          <p:cNvSpPr/>
          <p:nvPr/>
        </p:nvSpPr>
        <p:spPr>
          <a:xfrm>
            <a:off x="4782312" y="2518211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3"/>
              </a:lnSpc>
            </a:pPr>
            <a:r>
              <a:rPr lang="it-IT" sz="1000" dirty="0">
                <a:solidFill>
                  <a:schemeClr val="bg1"/>
                </a:solidFill>
              </a:rPr>
              <a:t>L’obiettivo dell’operatore è rubare la password in chiaro del collega prima che venga criptata al fine di usarla per i suoi scopi. 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6105FDF-701D-AB5C-B324-F5940A5B64A3}"/>
              </a:ext>
            </a:extLst>
          </p:cNvPr>
          <p:cNvSpPr/>
          <p:nvPr/>
        </p:nvSpPr>
        <p:spPr>
          <a:xfrm>
            <a:off x="381000" y="3565233"/>
            <a:ext cx="7199431" cy="1041637"/>
          </a:xfrm>
          <a:prstGeom prst="roundRect">
            <a:avLst>
              <a:gd name="adj" fmla="val 7531"/>
            </a:avLst>
          </a:prstGeom>
          <a:solidFill>
            <a:srgbClr val="0D1D14"/>
          </a:solidFill>
          <a:ln w="19050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54380E4-B4EB-881C-9EE6-5889C4989DFD}"/>
              </a:ext>
            </a:extLst>
          </p:cNvPr>
          <p:cNvSpPr/>
          <p:nvPr/>
        </p:nvSpPr>
        <p:spPr>
          <a:xfrm>
            <a:off x="593866" y="37292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63B5586-3092-B912-6D74-ECE81C6C192B}"/>
              </a:ext>
            </a:extLst>
          </p:cNvPr>
          <p:cNvSpPr/>
          <p:nvPr/>
        </p:nvSpPr>
        <p:spPr>
          <a:xfrm>
            <a:off x="980857" y="3807298"/>
            <a:ext cx="32329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Contromisura: Aumento Caratteri Modificati</a:t>
            </a:r>
            <a:endParaRPr lang="en-US" sz="1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771C09A-D781-3FBA-6A5E-5E5145E163EC}"/>
              </a:ext>
            </a:extLst>
          </p:cNvPr>
          <p:cNvSpPr/>
          <p:nvPr/>
        </p:nvSpPr>
        <p:spPr>
          <a:xfrm>
            <a:off x="606170" y="4159963"/>
            <a:ext cx="8122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it-IT" sz="1050" dirty="0">
                <a:solidFill>
                  <a:schemeClr val="bg1"/>
                </a:solidFill>
              </a:rPr>
              <a:t>Disabilitare l'output seriale della password in chiaro nella versione di produzione, oppure mostrare solo l'</a:t>
            </a:r>
            <a:r>
              <a:rPr lang="it-IT" sz="1050" dirty="0" err="1">
                <a:solidFill>
                  <a:schemeClr val="bg1"/>
                </a:solidFill>
              </a:rPr>
              <a:t>hash</a:t>
            </a:r>
            <a:r>
              <a:rPr lang="it-IT" sz="1050" dirty="0">
                <a:solidFill>
                  <a:schemeClr val="bg1"/>
                </a:solidFill>
              </a:rPr>
              <a:t>. </a:t>
            </a:r>
            <a:r>
              <a:rPr lang="it-IT" sz="1050" dirty="0"/>
              <a:t>.</a:t>
            </a:r>
            <a:endParaRPr lang="en-US" sz="10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5980A00-C92B-E563-50A8-ABCB7504D906}"/>
              </a:ext>
            </a:extLst>
          </p:cNvPr>
          <p:cNvSpPr/>
          <p:nvPr/>
        </p:nvSpPr>
        <p:spPr>
          <a:xfrm>
            <a:off x="514350" y="1393031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ATTORE</a:t>
            </a:r>
            <a:endParaRPr lang="en-US" sz="825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315BA3C-B30D-A314-FBB4-E0F44929A90F}"/>
              </a:ext>
            </a:extLst>
          </p:cNvPr>
          <p:cNvSpPr/>
          <p:nvPr/>
        </p:nvSpPr>
        <p:spPr>
          <a:xfrm>
            <a:off x="514350" y="1577727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Operatore di sicurezza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8022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fa5b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Riepilogo e Conclusioni</a:t>
            </a:r>
            <a:endParaRPr lang="en-US" sz="2700" dirty="0"/>
          </a:p>
        </p:txBody>
      </p:sp>
      <p:pic>
        <p:nvPicPr>
          <p:cNvPr id="4" name="Image 1" descr="/tmp/rasterized-gradient-1b8a27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1179"/>
            <a:ext cx="1995487" cy="13580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2450" y="1301204"/>
            <a:ext cx="16856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📻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52450" y="1750665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TRNG Radio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52450" y="1967805"/>
            <a:ext cx="16856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Entropia reale dal rumore elettromagnetico FM</a:t>
            </a:r>
            <a:endParaRPr lang="en-US" sz="900" dirty="0"/>
          </a:p>
        </p:txBody>
      </p:sp>
      <p:pic>
        <p:nvPicPr>
          <p:cNvPr id="8" name="Image 2" descr="/tmp/rasterized-gradient-133159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838" y="1101179"/>
            <a:ext cx="1995487" cy="13580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81288" y="1301204"/>
            <a:ext cx="16856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2681288" y="1750665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AES-128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681288" y="1967805"/>
            <a:ext cx="16856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Crittografia robusta prima del cloud storage</a:t>
            </a:r>
            <a:endParaRPr lang="en-US" sz="900" dirty="0"/>
          </a:p>
        </p:txBody>
      </p:sp>
      <p:pic>
        <p:nvPicPr>
          <p:cNvPr id="12" name="Image 3" descr="/tmp/rasterized-gradient-920b4e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675" y="1101179"/>
            <a:ext cx="1995487" cy="1358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10125" y="1301204"/>
            <a:ext cx="16856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⛓️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4810125" y="1750665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810125" y="1967805"/>
            <a:ext cx="16856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immutabile con SHA-256</a:t>
            </a:r>
            <a:endParaRPr lang="en-US" sz="900" dirty="0"/>
          </a:p>
        </p:txBody>
      </p:sp>
      <p:pic>
        <p:nvPicPr>
          <p:cNvPr id="16" name="Image 4" descr="/tmp/rasterized-gradient-82dd8f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7513" y="1101179"/>
            <a:ext cx="1995487" cy="13580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38963" y="1301204"/>
            <a:ext cx="16856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6938963" y="1750665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 in Depth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938963" y="1967805"/>
            <a:ext cx="16856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Salting, Flash Encryption, Secure Boot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381000" y="2611636"/>
            <a:ext cx="8382000" cy="977205"/>
          </a:xfrm>
          <a:prstGeom prst="roundRect">
            <a:avLst>
              <a:gd name="adj" fmla="val 974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52450" y="2783086"/>
            <a:ext cx="819988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Minacce Mitigate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552450" y="3045916"/>
            <a:ext cx="2603450" cy="371475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908745" y="3151584"/>
            <a:ext cx="17823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Injection → 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Ibrido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270200" y="3045916"/>
            <a:ext cx="2603450" cy="371475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626495" y="3151584"/>
            <a:ext cx="1795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Prediction → 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 Aumentato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987951" y="3045916"/>
            <a:ext cx="2603450" cy="371475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344245" y="3151584"/>
            <a:ext cx="18142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Dump → </a:t>
            </a: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 Encryption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81000" y="3760291"/>
            <a:ext cx="2679650" cy="929580"/>
          </a:xfrm>
          <a:prstGeom prst="roundRect">
            <a:avLst>
              <a:gd name="adj" fmla="val 8197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09651" y="3912691"/>
            <a:ext cx="242234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10.000+</a:t>
            </a:r>
            <a:endParaRPr lang="en-US" sz="2400" dirty="0"/>
          </a:p>
        </p:txBody>
      </p:sp>
      <p:sp>
        <p:nvSpPr>
          <p:cNvPr id="30" name="Text 23"/>
          <p:cNvSpPr/>
          <p:nvPr/>
        </p:nvSpPr>
        <p:spPr>
          <a:xfrm>
            <a:off x="509651" y="4377482"/>
            <a:ext cx="2422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testate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3213050" y="3760291"/>
            <a:ext cx="2679650" cy="929580"/>
          </a:xfrm>
          <a:prstGeom prst="roundRect">
            <a:avLst>
              <a:gd name="adj" fmla="val 819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41702" y="3912691"/>
            <a:ext cx="242234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3341702" y="4377482"/>
            <a:ext cx="2422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Duplicati trovati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045101" y="3741241"/>
            <a:ext cx="27177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192802" y="3912691"/>
            <a:ext cx="242234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6192802" y="4377482"/>
            <a:ext cx="2422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Caratteri ASCII per password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381000" y="4762500"/>
            <a:ext cx="1728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mdpi.com/1424-8220/19/19/4130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1055</Words>
  <Application>Microsoft Office PowerPoint</Application>
  <PresentationFormat>Presentazione su schermo (16:9)</PresentationFormat>
  <Paragraphs>208</Paragraphs>
  <Slides>13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monospace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Security - Password Generator</dc:title>
  <dc:subject>PptxGenJS Presentation</dc:subject>
  <dc:creator>Progetto IoT Security</dc:creator>
  <cp:lastModifiedBy>ALESSANDRO ORSATTI</cp:lastModifiedBy>
  <cp:revision>6</cp:revision>
  <dcterms:created xsi:type="dcterms:W3CDTF">2026-01-16T10:15:16Z</dcterms:created>
  <dcterms:modified xsi:type="dcterms:W3CDTF">2026-02-01T11:29:58Z</dcterms:modified>
</cp:coreProperties>
</file>